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bg" sz="1300">
                <a:solidFill>
                  <a:schemeClr val="dk1"/>
                </a:solidFill>
              </a:rPr>
              <a:t>Слайд 1: Заглавна страница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bg">
                <a:solidFill>
                  <a:schemeClr val="dk1"/>
                </a:solidFill>
              </a:rPr>
              <a:t>Текст:</a:t>
            </a:r>
            <a:r>
              <a:rPr lang="bg">
                <a:solidFill>
                  <a:schemeClr val="dk1"/>
                </a:solidFill>
              </a:rPr>
              <a:t> „Здравейте! Днес ще ви представя плана за QA тестване на нашето ново приложение за умно паркиране – </a:t>
            </a:r>
            <a:r>
              <a:rPr b="1" lang="bg">
                <a:solidFill>
                  <a:schemeClr val="dk1"/>
                </a:solidFill>
              </a:rPr>
              <a:t>InstaPark</a:t>
            </a:r>
            <a:r>
              <a:rPr lang="bg">
                <a:solidFill>
                  <a:schemeClr val="dk1"/>
                </a:solidFill>
              </a:rPr>
              <a:t>. Нашата основна цел е да осигурим безпроблемно потребителско изживяване, като се фокусираме върху трите ключови стълба на приложението: бързо намиране на свободни места, сигурни онлайн плащания и надеждни известия и навигация за шофьорите.“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610dcd2a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610dcd2a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10dcd2a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10dcd2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bg" sz="1300">
                <a:solidFill>
                  <a:schemeClr val="dk1"/>
                </a:solidFill>
              </a:rPr>
              <a:t>Слайд 2: Риск План (Анализ на рисковете)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bg">
                <a:solidFill>
                  <a:schemeClr val="dk1"/>
                </a:solidFill>
              </a:rPr>
              <a:t>Текст:</a:t>
            </a:r>
            <a:r>
              <a:rPr lang="bg">
                <a:solidFill>
                  <a:schemeClr val="dk1"/>
                </a:solidFill>
              </a:rPr>
              <a:t> „Преди да започнем с тестовете, идентифицирахме критичните рискове. Най-висок приоритет имат </a:t>
            </a:r>
            <a:r>
              <a:rPr b="1" lang="bg">
                <a:solidFill>
                  <a:schemeClr val="dk1"/>
                </a:solidFill>
              </a:rPr>
              <a:t>плащанията</a:t>
            </a:r>
            <a:r>
              <a:rPr lang="bg">
                <a:solidFill>
                  <a:schemeClr val="dk1"/>
                </a:solidFill>
              </a:rPr>
              <a:t> и </a:t>
            </a:r>
            <a:r>
              <a:rPr b="1" lang="bg">
                <a:solidFill>
                  <a:schemeClr val="dk1"/>
                </a:solidFill>
              </a:rPr>
              <a:t>точността на данните</a:t>
            </a:r>
            <a:r>
              <a:rPr lang="bg">
                <a:solidFill>
                  <a:schemeClr val="dk1"/>
                </a:solidFill>
              </a:rPr>
              <a:t> за свободни места – ако там има грешка, губим доверието на клиента веднага. С умерен риск са известията и дублирането на резервации, а техническите грешки в GPS навигацията са с по-нисък приоритет, но също ще бъдат наблюдавани, за да гарантираме точност до метър.“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610dcd2a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610dcd2a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bg" sz="1300">
                <a:solidFill>
                  <a:schemeClr val="dk1"/>
                </a:solidFill>
              </a:rPr>
              <a:t>Слайд 3: Тестови Сценарии (Основни компоненти)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bg">
                <a:solidFill>
                  <a:schemeClr val="dk1"/>
                </a:solidFill>
              </a:rPr>
              <a:t>Текст:</a:t>
            </a:r>
            <a:r>
              <a:rPr lang="bg">
                <a:solidFill>
                  <a:schemeClr val="dk1"/>
                </a:solidFill>
              </a:rPr>
              <a:t> „Нашият тестов обхват е разделен на четири основни модула. Първо, проверяваме визуалното представяне на </a:t>
            </a:r>
            <a:r>
              <a:rPr b="1" lang="bg">
                <a:solidFill>
                  <a:schemeClr val="dk1"/>
                </a:solidFill>
              </a:rPr>
              <a:t>свободните места</a:t>
            </a:r>
            <a:r>
              <a:rPr lang="bg">
                <a:solidFill>
                  <a:schemeClr val="dk1"/>
                </a:solidFill>
              </a:rPr>
              <a:t> върху картата. Второ, тестваме логиката на </a:t>
            </a:r>
            <a:r>
              <a:rPr b="1" lang="bg">
                <a:solidFill>
                  <a:schemeClr val="dk1"/>
                </a:solidFill>
              </a:rPr>
              <a:t>резервациите</a:t>
            </a:r>
            <a:r>
              <a:rPr lang="bg">
                <a:solidFill>
                  <a:schemeClr val="dk1"/>
                </a:solidFill>
              </a:rPr>
              <a:t> спрямо времето. Трето е сигурността на </a:t>
            </a:r>
            <a:r>
              <a:rPr b="1" lang="bg">
                <a:solidFill>
                  <a:schemeClr val="dk1"/>
                </a:solidFill>
              </a:rPr>
              <a:t>онлайн плащанията</a:t>
            </a:r>
            <a:r>
              <a:rPr lang="bg">
                <a:solidFill>
                  <a:schemeClr val="dk1"/>
                </a:solidFill>
              </a:rPr>
              <a:t>, и накрая – системата за </a:t>
            </a:r>
            <a:r>
              <a:rPr b="1" lang="bg">
                <a:solidFill>
                  <a:schemeClr val="dk1"/>
                </a:solidFill>
              </a:rPr>
              <a:t>напомняния</a:t>
            </a:r>
            <a:r>
              <a:rPr lang="bg">
                <a:solidFill>
                  <a:schemeClr val="dk1"/>
                </a:solidFill>
              </a:rPr>
              <a:t>, която трябва да предупреждава потребителите преди изтичане на тяхното време за паркиране.“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610dcd2a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610dcd2a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bg" sz="1300">
                <a:solidFill>
                  <a:schemeClr val="dk1"/>
                </a:solidFill>
              </a:rPr>
              <a:t>Слайд 4: Примерни Тестови Сценарии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bg">
                <a:solidFill>
                  <a:schemeClr val="dk1"/>
                </a:solidFill>
              </a:rPr>
              <a:t>Текст:</a:t>
            </a:r>
            <a:r>
              <a:rPr lang="bg">
                <a:solidFill>
                  <a:schemeClr val="dk1"/>
                </a:solidFill>
              </a:rPr>
              <a:t> „Тук виждате част от конкретните ни тестови стъпки. Например, при тест </a:t>
            </a:r>
            <a:r>
              <a:rPr b="1" lang="bg">
                <a:solidFill>
                  <a:schemeClr val="dk1"/>
                </a:solidFill>
              </a:rPr>
              <a:t>T001</a:t>
            </a:r>
            <a:r>
              <a:rPr lang="bg">
                <a:solidFill>
                  <a:schemeClr val="dk1"/>
                </a:solidFill>
              </a:rPr>
              <a:t> проверяваме дали картата се опреснява в реално време, когато място се освободи. При тест </a:t>
            </a:r>
            <a:r>
              <a:rPr b="1" lang="bg">
                <a:solidFill>
                  <a:schemeClr val="dk1"/>
                </a:solidFill>
              </a:rPr>
              <a:t>T005</a:t>
            </a:r>
            <a:r>
              <a:rPr lang="bg">
                <a:solidFill>
                  <a:schemeClr val="dk1"/>
                </a:solidFill>
              </a:rPr>
              <a:t> потвърждаваме, че транзакциите с валидна карта преминават успешно. Особено важен е тест </a:t>
            </a:r>
            <a:r>
              <a:rPr b="1" lang="bg">
                <a:solidFill>
                  <a:schemeClr val="dk1"/>
                </a:solidFill>
              </a:rPr>
              <a:t>T007</a:t>
            </a:r>
            <a:r>
              <a:rPr lang="bg">
                <a:solidFill>
                  <a:schemeClr val="dk1"/>
                </a:solidFill>
              </a:rPr>
              <a:t>, където проверяваме дали потребителят получава push-нотификация точно 10 минути преди крайния час, за да избегне глоба.“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610dcd2a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610dcd2a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bg" sz="1300">
                <a:solidFill>
                  <a:schemeClr val="dk1"/>
                </a:solidFill>
              </a:rPr>
              <a:t>Слайд 5: Обобщение и Видове Тестване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bg">
                <a:solidFill>
                  <a:schemeClr val="dk1"/>
                </a:solidFill>
              </a:rPr>
              <a:t>Текст:</a:t>
            </a:r>
            <a:r>
              <a:rPr lang="bg">
                <a:solidFill>
                  <a:schemeClr val="dk1"/>
                </a:solidFill>
              </a:rPr>
              <a:t> „За да гарантираме качеството на InstaPark, прилагаме комплексен подход. Това включва </a:t>
            </a:r>
            <a:r>
              <a:rPr b="1" lang="bg">
                <a:solidFill>
                  <a:schemeClr val="dk1"/>
                </a:solidFill>
              </a:rPr>
              <a:t>функционални тестове</a:t>
            </a:r>
            <a:r>
              <a:rPr lang="bg">
                <a:solidFill>
                  <a:schemeClr val="dk1"/>
                </a:solidFill>
              </a:rPr>
              <a:t> за проверка на всички бутони и функции, тестове за </a:t>
            </a:r>
            <a:r>
              <a:rPr b="1" lang="bg">
                <a:solidFill>
                  <a:schemeClr val="dk1"/>
                </a:solidFill>
              </a:rPr>
              <a:t>сигурност</a:t>
            </a:r>
            <a:r>
              <a:rPr lang="bg">
                <a:solidFill>
                  <a:schemeClr val="dk1"/>
                </a:solidFill>
              </a:rPr>
              <a:t> на данните, проверка на </a:t>
            </a:r>
            <a:r>
              <a:rPr b="1" lang="bg">
                <a:solidFill>
                  <a:schemeClr val="dk1"/>
                </a:solidFill>
              </a:rPr>
              <a:t>производителността</a:t>
            </a:r>
            <a:r>
              <a:rPr lang="bg">
                <a:solidFill>
                  <a:schemeClr val="dk1"/>
                </a:solidFill>
              </a:rPr>
              <a:t> при голям брой потребители и, разбира се, </a:t>
            </a:r>
            <a:r>
              <a:rPr b="1" lang="bg">
                <a:solidFill>
                  <a:schemeClr val="dk1"/>
                </a:solidFill>
              </a:rPr>
              <a:t>UX тестване</a:t>
            </a:r>
            <a:r>
              <a:rPr lang="bg">
                <a:solidFill>
                  <a:schemeClr val="dk1"/>
                </a:solidFill>
              </a:rPr>
              <a:t>, за да сме сигурни, че приложението е лесно и интуитивно за ползване дори докато шофьорът е в движение.“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Screenshot 2026-01-10 at 16.01.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54075" y="-57875"/>
            <a:ext cx="9728625" cy="61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 title="Gemini_Generated_Image_fqtcehfqtcehfqt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245550" y="4696350"/>
            <a:ext cx="8520600" cy="2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 title="Screenshot 2026-01-10 at 16.01.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871349" cy="44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 title="Screenshot 2026-01-10 at 16.01.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22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 title="Screenshot 2026-01-10 at 16.01.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00" y="0"/>
            <a:ext cx="9039825" cy="520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 title="Screenshot 2026-01-10 at 16.01.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35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